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645920"/>
            <a:ext cx="109728" cy="310896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284C7"/>
                </a:solidFill>
                <a:latin typeface="Arial"/>
              </a:defRPr>
            </a:pPr>
            <a:r>
              <a:t>MERN STACK ARCHITECTURE</a:t>
            </a:r>
          </a:p>
          <a:p>
            <a:pPr>
              <a:spcAft>
                <a:spcPts val="600"/>
              </a:spcAft>
              <a:defRPr sz="4000" b="1">
                <a:solidFill>
                  <a:srgbClr val="FFFFFF"/>
                </a:solidFill>
                <a:latin typeface="Arial"/>
              </a:defRPr>
            </a:pPr>
            <a:r>
              <a:t>CampusEventHub</a:t>
            </a:r>
          </a:p>
          <a:p>
            <a:pPr>
              <a:spcAft>
                <a:spcPts val="1400"/>
              </a:spcAft>
              <a:defRPr sz="1800" b="1">
                <a:solidFill>
                  <a:srgbClr val="94A3B8"/>
                </a:solidFill>
                <a:latin typeface="Arial"/>
              </a:defRPr>
            </a:pPr>
            <a:r>
              <a:t>INTER COLLEGE EVENT MANAGEMENT PLATFORM</a:t>
            </a:r>
          </a:p>
          <a:p>
            <a:pPr>
              <a:defRPr sz="1200">
                <a:solidFill>
                  <a:srgbClr val="CBD5E1"/>
                </a:solidFill>
                <a:latin typeface="Arial"/>
              </a:defRPr>
            </a:pPr>
            <a:r>
              <a:t>A centralized ecosystem for seamless event creation, 1-click registration, and interactive analytics.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12064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0284C7"/>
                </a:solidFill>
                <a:latin typeface="Arial"/>
              </a:defRPr>
            </a:pPr>
            <a:r>
              <a:t>PRESENTED BY TEAM MEMBERS:</a:t>
            </a:r>
          </a:p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Satyam Mohanty  •  Samruddhi Garge  •  Jayanth Reddy  •  Sahil Tripathy  •  Abinaya Sri  •  Srishti Sinha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Arial"/>
              </a:defRPr>
            </a:pPr>
            <a:r>
              <a:t>Challenges Facing Event Management in Colleges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5146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91640"/>
            <a:ext cx="205740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DC2626"/>
                </a:solidFill>
                <a:latin typeface="Arial"/>
              </a:defRPr>
            </a:pPr>
            <a:r>
              <a:t>CHALLENGE 01</a:t>
            </a:r>
          </a:p>
          <a:p>
            <a:pPr>
              <a:spcAft>
                <a:spcPts val="800"/>
              </a:spcAft>
              <a:defRPr sz="1400" b="1">
                <a:solidFill>
                  <a:srgbClr val="1E40AF"/>
                </a:solidFill>
                <a:latin typeface="Arial"/>
              </a:defRPr>
            </a:pPr>
            <a:r>
              <a:t>1. Poor Engagement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Difficulties discovering relevant events across campuses.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Fragmented channels (posters, social media) reduce visibility.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Disconnect between organizers and students lowers attendance.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65576" y="1463040"/>
            <a:ext cx="25146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94176" y="1691640"/>
            <a:ext cx="205740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DC2626"/>
                </a:solidFill>
                <a:latin typeface="Arial"/>
              </a:defRPr>
            </a:pPr>
            <a:r>
              <a:t>CHALLENGE 02</a:t>
            </a:r>
          </a:p>
          <a:p>
            <a:pPr>
              <a:spcAft>
                <a:spcPts val="800"/>
              </a:spcAft>
              <a:defRPr sz="1400" b="1">
                <a:solidFill>
                  <a:srgbClr val="1E40AF"/>
                </a:solidFill>
                <a:latin typeface="Arial"/>
              </a:defRPr>
            </a:pPr>
            <a:r>
              <a:t>2. Manual Processes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Heavy reliance on spreadsheets and physical desks.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Time-consuming data entry increases human errors.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Organizers struggle to coordinate across multi-college boundaries.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463040"/>
            <a:ext cx="25146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8232" y="1691640"/>
            <a:ext cx="205740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DC2626"/>
                </a:solidFill>
                <a:latin typeface="Arial"/>
              </a:defRPr>
            </a:pPr>
            <a:r>
              <a:t>CHALLENGE 03</a:t>
            </a:r>
          </a:p>
          <a:p>
            <a:pPr>
              <a:spcAft>
                <a:spcPts val="800"/>
              </a:spcAft>
              <a:defRPr sz="1400" b="1">
                <a:solidFill>
                  <a:srgbClr val="1E40AF"/>
                </a:solidFill>
                <a:latin typeface="Arial"/>
              </a:defRPr>
            </a:pPr>
            <a:r>
              <a:t>3. Inefficiencies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Inefficient communication channels hinder real-time updates.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Participants miss critical schedule and venue changes.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Lack of structured feedback collection limits improvement.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33688" y="1463040"/>
            <a:ext cx="25146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62288" y="1691640"/>
            <a:ext cx="205740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10B981"/>
                </a:solidFill>
                <a:latin typeface="Arial"/>
              </a:defRPr>
            </a:pPr>
            <a:r>
              <a:t>SOLUTION GOAL</a:t>
            </a:r>
          </a:p>
          <a:p>
            <a:pPr>
              <a:spcAft>
                <a:spcPts val="800"/>
              </a:spcAft>
              <a:defRPr sz="1400" b="1">
                <a:solidFill>
                  <a:srgbClr val="1E40AF"/>
                </a:solidFill>
                <a:latin typeface="Arial"/>
              </a:defRPr>
            </a:pPr>
            <a:r>
              <a:t>4. Need for Platform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Absence of a centralized hub for inter-college synergy.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Requires streamlined event management and standardized workflows.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Need for modern UX to drive higher engagement and participation.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PLATFORM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Arial"/>
              </a:defRPr>
            </a:pPr>
            <a:r>
              <a:t>Core Features of CampusEventHub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91640"/>
            <a:ext cx="292608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1E40AF"/>
                </a:solidFill>
                <a:latin typeface="Arial"/>
              </a:defRPr>
            </a:pPr>
            <a:r>
              <a:t>FEATURE 01</a:t>
            </a:r>
          </a:p>
          <a:p>
            <a:pPr>
              <a:spcAft>
                <a:spcPts val="800"/>
              </a:spcAft>
              <a:defRPr sz="1400" b="1">
                <a:solidFill>
                  <a:srgbClr val="1E40AF"/>
                </a:solidFill>
                <a:latin typeface="Arial"/>
              </a:defRPr>
            </a:pPr>
            <a:r>
              <a:t>Event Creation Made Easy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Effortlessly set up events with clear, guided wizard steps.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Customizable event branding, schedules, categories, and capacities.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Automated publishing to the multi-college public directory.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691640"/>
            <a:ext cx="292608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1E40AF"/>
                </a:solidFill>
                <a:latin typeface="Arial"/>
              </a:defRPr>
            </a:pPr>
            <a:r>
              <a:t>FEATURE 02</a:t>
            </a:r>
          </a:p>
          <a:p>
            <a:pPr>
              <a:spcAft>
                <a:spcPts val="800"/>
              </a:spcAft>
              <a:defRPr sz="1400" b="1">
                <a:solidFill>
                  <a:srgbClr val="1E40AF"/>
                </a:solidFill>
                <a:latin typeface="Arial"/>
              </a:defRPr>
            </a:pPr>
            <a:r>
              <a:t>Seamless Registration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Participants can register in just a few clicks.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Frictionless attendee workflow with digital pass generation.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Real-time ticket quota tracking and instant confirmations.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691640"/>
            <a:ext cx="292608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1E40AF"/>
                </a:solidFill>
                <a:latin typeface="Arial"/>
              </a:defRPr>
            </a:pPr>
            <a:r>
              <a:t>FEATURE 03</a:t>
            </a:r>
          </a:p>
          <a:p>
            <a:pPr>
              <a:spcAft>
                <a:spcPts val="800"/>
              </a:spcAft>
              <a:defRPr sz="1400" b="1">
                <a:solidFill>
                  <a:srgbClr val="1E40AF"/>
                </a:solidFill>
                <a:latin typeface="Arial"/>
              </a:defRPr>
            </a:pPr>
            <a:r>
              <a:t>Interactive Feedback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Attendees provide post-event ratings and actionable insights.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Aggregated feedback analytics for organizers.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Drives continuous improvement for future campus editions.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ARCHITECTURE &amp; 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Arial"/>
              </a:defRPr>
            </a:pPr>
            <a:r>
              <a:t>Technology Stack: The MERN Framework Explained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5146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91640"/>
            <a:ext cx="205740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0284C7"/>
                </a:solidFill>
                <a:latin typeface="Arial"/>
              </a:defRPr>
            </a:pPr>
            <a:r>
              <a:t>FRONTEND LAYER</a:t>
            </a:r>
          </a:p>
          <a:p>
            <a:pPr>
              <a:spcAft>
                <a:spcPts val="800"/>
              </a:spcAft>
              <a:defRPr sz="1400" b="1">
                <a:solidFill>
                  <a:srgbClr val="1E40AF"/>
                </a:solidFill>
                <a:latin typeface="Arial"/>
              </a:defRPr>
            </a:pPr>
            <a:r>
              <a:t>React.js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The User Interface Library.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Component-based architecture for dynamic, interactive web apps.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Virtual DOM reconciliation ensures lightning-fast UI responsiveness.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65576" y="1463040"/>
            <a:ext cx="25146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94176" y="1691640"/>
            <a:ext cx="205740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0284C7"/>
                </a:solidFill>
                <a:latin typeface="Arial"/>
              </a:defRPr>
            </a:pPr>
            <a:r>
              <a:t>SERVER RUNTIME</a:t>
            </a:r>
          </a:p>
          <a:p>
            <a:pPr>
              <a:spcAft>
                <a:spcPts val="800"/>
              </a:spcAft>
              <a:defRPr sz="1400" b="1">
                <a:solidFill>
                  <a:srgbClr val="1E40AF"/>
                </a:solidFill>
                <a:latin typeface="Arial"/>
              </a:defRPr>
            </a:pPr>
            <a:r>
              <a:t>Node.js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The JavaScript Runtime Environment.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Enables server-side JavaScript execution and command-line tooling.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Asynchronous, non-blocking event-driven concurrency model.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463040"/>
            <a:ext cx="25146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8232" y="1691640"/>
            <a:ext cx="205740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0284C7"/>
                </a:solidFill>
                <a:latin typeface="Arial"/>
              </a:defRPr>
            </a:pPr>
            <a:r>
              <a:t>BACKEND FRAMEWORK</a:t>
            </a:r>
          </a:p>
          <a:p>
            <a:pPr>
              <a:spcAft>
                <a:spcPts val="800"/>
              </a:spcAft>
              <a:defRPr sz="1400" b="1">
                <a:solidFill>
                  <a:srgbClr val="1E40AF"/>
                </a:solidFill>
                <a:latin typeface="Arial"/>
              </a:defRPr>
            </a:pPr>
            <a:r>
              <a:t>Express.js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The Fast &amp; Minimalist Framework.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Simplifies server-side routing and middleware pipelines.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Quick RESTful API creation with minimal overhead.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33688" y="1463040"/>
            <a:ext cx="25146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62288" y="1691640"/>
            <a:ext cx="205740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0284C7"/>
                </a:solidFill>
                <a:latin typeface="Arial"/>
              </a:defRPr>
            </a:pPr>
            <a:r>
              <a:t>DATABASE LAYER</a:t>
            </a:r>
          </a:p>
          <a:p>
            <a:pPr>
              <a:spcAft>
                <a:spcPts val="800"/>
              </a:spcAft>
              <a:defRPr sz="1400" b="1">
                <a:solidFill>
                  <a:srgbClr val="1E40AF"/>
                </a:solidFill>
                <a:latin typeface="Arial"/>
              </a:defRPr>
            </a:pPr>
            <a:r>
              <a:t>MongoDB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The NoSQL Document Database.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Flexible JSON/BSON document structure for dynamic schemas.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Handles diverse event metadata, registrations, and analytics efficiently.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SYSTEM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Arial"/>
              </a:defRPr>
            </a:pPr>
            <a:r>
              <a:t>System Architecture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5146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91640"/>
            <a:ext cx="205740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1E40AF"/>
                </a:solidFill>
                <a:latin typeface="Arial"/>
              </a:defRPr>
            </a:pPr>
            <a:r>
              <a:t>PILLAR 01</a:t>
            </a:r>
          </a:p>
          <a:p>
            <a:pPr>
              <a:spcAft>
                <a:spcPts val="800"/>
              </a:spcAft>
              <a:defRPr sz="1400" b="1">
                <a:solidFill>
                  <a:srgbClr val="1E40AF"/>
                </a:solidFill>
                <a:latin typeface="Arial"/>
              </a:defRPr>
            </a:pPr>
            <a:r>
              <a:t>Modular Design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Each feature operates independently.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Enables easy updates and zero-downtime enhancements.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Decoupled frontend and backend micro-services.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65576" y="1463040"/>
            <a:ext cx="25146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94176" y="1691640"/>
            <a:ext cx="205740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1E40AF"/>
                </a:solidFill>
                <a:latin typeface="Arial"/>
              </a:defRPr>
            </a:pPr>
            <a:r>
              <a:t>PILLAR 02</a:t>
            </a:r>
          </a:p>
          <a:p>
            <a:pPr>
              <a:spcAft>
                <a:spcPts val="800"/>
              </a:spcAft>
              <a:defRPr sz="1400" b="1">
                <a:solidFill>
                  <a:srgbClr val="1E40AF"/>
                </a:solidFill>
                <a:latin typeface="Arial"/>
              </a:defRPr>
            </a:pPr>
            <a:r>
              <a:t>APIs for Integration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Standardized RESTful API endpoints.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Facilitates seamless communication across all client devices.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Enables future third-party integrations.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463040"/>
            <a:ext cx="25146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8232" y="1691640"/>
            <a:ext cx="205740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1E40AF"/>
                </a:solidFill>
                <a:latin typeface="Arial"/>
              </a:defRPr>
            </a:pPr>
            <a:r>
              <a:t>PILLAR 03</a:t>
            </a:r>
          </a:p>
          <a:p>
            <a:pPr>
              <a:spcAft>
                <a:spcPts val="800"/>
              </a:spcAft>
              <a:defRPr sz="1400" b="1">
                <a:solidFill>
                  <a:srgbClr val="1E40AF"/>
                </a:solidFill>
                <a:latin typeface="Arial"/>
              </a:defRPr>
            </a:pPr>
            <a:r>
              <a:t>Data Security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Implementation of JWT for stateless user sessions.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Data encryption protects sensitive user information.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Role-based access control (Admin, Student, Organizer).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33688" y="1463040"/>
            <a:ext cx="25146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62288" y="1691640"/>
            <a:ext cx="205740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1E40AF"/>
                </a:solidFill>
                <a:latin typeface="Arial"/>
              </a:defRPr>
            </a:pPr>
            <a:r>
              <a:t>PILLAR 04</a:t>
            </a:r>
          </a:p>
          <a:p>
            <a:pPr>
              <a:spcAft>
                <a:spcPts val="800"/>
              </a:spcAft>
              <a:defRPr sz="1400" b="1">
                <a:solidFill>
                  <a:srgbClr val="1E40AF"/>
                </a:solidFill>
                <a:latin typeface="Arial"/>
              </a:defRPr>
            </a:pPr>
            <a:r>
              <a:t>High Scalability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Supports horizontal scaling for growing user loads.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Maintains high throughput during peak registration traffic.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Cloud-ready containerized deployment.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ENGINEERING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Arial"/>
              </a:defRPr>
            </a:pPr>
            <a:r>
              <a:t>Challenges &amp; Solutions in CampusEventHub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5146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91640"/>
            <a:ext cx="205740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1E40AF"/>
                </a:solidFill>
                <a:latin typeface="Arial"/>
              </a:defRPr>
            </a:pPr>
            <a:r>
              <a:t>ENGINEERING 01</a:t>
            </a:r>
          </a:p>
          <a:p>
            <a:pPr>
              <a:spcAft>
                <a:spcPts val="800"/>
              </a:spcAft>
              <a:defRPr sz="1400" b="1">
                <a:solidFill>
                  <a:srgbClr val="1E40AF"/>
                </a:solidFill>
                <a:latin typeface="Arial"/>
              </a:defRPr>
            </a:pPr>
            <a:r>
              <a:t>Scalability Solutions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Utilizing modular design to adapt and scale seamlessly.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Accommodates surges in user registrations without degradation.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Load-balanced micro-services architecture.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65576" y="1463040"/>
            <a:ext cx="25146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94176" y="1691640"/>
            <a:ext cx="205740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1E40AF"/>
                </a:solidFill>
                <a:latin typeface="Arial"/>
              </a:defRPr>
            </a:pPr>
            <a:r>
              <a:t>ENGINEERING 02</a:t>
            </a:r>
          </a:p>
          <a:p>
            <a:pPr>
              <a:spcAft>
                <a:spcPts val="800"/>
              </a:spcAft>
              <a:defRPr sz="1400" b="1">
                <a:solidFill>
                  <a:srgbClr val="1E40AF"/>
                </a:solidFill>
                <a:latin typeface="Arial"/>
              </a:defRPr>
            </a:pPr>
            <a:r>
              <a:t>Security Enhancements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Robust JWT authentication and encryption protocols.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Guarantees user data confidentiality.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Minimizes risks of unauthorized access and credential leakage.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463040"/>
            <a:ext cx="25146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8232" y="1691640"/>
            <a:ext cx="205740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1E40AF"/>
                </a:solidFill>
                <a:latin typeface="Arial"/>
              </a:defRPr>
            </a:pPr>
            <a:r>
              <a:t>ENGINEERING 03</a:t>
            </a:r>
          </a:p>
          <a:p>
            <a:pPr>
              <a:spcAft>
                <a:spcPts val="800"/>
              </a:spcAft>
              <a:defRPr sz="1400" b="1">
                <a:solidFill>
                  <a:srgbClr val="1E40AF"/>
                </a:solidFill>
                <a:latin typeface="Arial"/>
              </a:defRPr>
            </a:pPr>
            <a:r>
              <a:t>User Engagement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Intuitive UI/UX design with real-time live updates.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Fosters active student participation and inter-college networking.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Frictionless search and category filtering.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33688" y="1463040"/>
            <a:ext cx="25146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62288" y="1691640"/>
            <a:ext cx="205740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1E40AF"/>
                </a:solidFill>
                <a:latin typeface="Arial"/>
              </a:defRPr>
            </a:pPr>
            <a:r>
              <a:t>ENGINEERING 04</a:t>
            </a:r>
          </a:p>
          <a:p>
            <a:pPr>
              <a:spcAft>
                <a:spcPts val="800"/>
              </a:spcAft>
              <a:defRPr sz="1400" b="1">
                <a:solidFill>
                  <a:srgbClr val="1E40AF"/>
                </a:solidFill>
                <a:latin typeface="Arial"/>
              </a:defRPr>
            </a:pPr>
            <a:r>
              <a:t>Modular Extensibility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Simplifies feature expansion and continuous deployment.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Facilitates seamless integration with external campus systems.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Future-proofs the platform as technologies evolve.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ADMINISTRATIVE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Arial"/>
              </a:defRPr>
            </a:pPr>
            <a:r>
              <a:t>College Admin Onboarding &amp; Management Process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91640"/>
            <a:ext cx="292608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0284C7"/>
                </a:solidFill>
                <a:latin typeface="Arial"/>
              </a:defRPr>
            </a:pPr>
            <a:r>
              <a:t>STAGE 01</a:t>
            </a:r>
          </a:p>
          <a:p>
            <a:pPr>
              <a:spcAft>
                <a:spcPts val="800"/>
              </a:spcAft>
              <a:defRPr sz="1400" b="1">
                <a:solidFill>
                  <a:srgbClr val="1E40AF"/>
                </a:solidFill>
                <a:latin typeface="Arial"/>
              </a:defRPr>
            </a:pPr>
            <a:r>
              <a:t>Simple User Onboarding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Straightforward registration flow designed for college authorities.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Fast verification of institutional credentials.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Quick step-by-step organization profile setup.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691640"/>
            <a:ext cx="292608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0284C7"/>
                </a:solidFill>
                <a:latin typeface="Arial"/>
              </a:defRPr>
            </a:pPr>
            <a:r>
              <a:t>STAGE 02</a:t>
            </a:r>
          </a:p>
          <a:p>
            <a:pPr>
              <a:spcAft>
                <a:spcPts val="800"/>
              </a:spcAft>
              <a:defRPr sz="1400" b="1">
                <a:solidFill>
                  <a:srgbClr val="1E40AF"/>
                </a:solidFill>
                <a:latin typeface="Arial"/>
              </a:defRPr>
            </a:pPr>
            <a:r>
              <a:t>Secure Authentication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Admins undergo encrypted authentication to safeguard privacy.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Granular role-based privilege checks on sensitive endpoints.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Protects attendee personal records and audit trails.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691640"/>
            <a:ext cx="292608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0284C7"/>
                </a:solidFill>
                <a:latin typeface="Arial"/>
              </a:defRPr>
            </a:pPr>
            <a:r>
              <a:t>STAGE 03</a:t>
            </a:r>
          </a:p>
          <a:p>
            <a:pPr>
              <a:spcAft>
                <a:spcPts val="800"/>
              </a:spcAft>
              <a:defRPr sz="1400" b="1">
                <a:solidFill>
                  <a:srgbClr val="1E40AF"/>
                </a:solidFill>
                <a:latin typeface="Arial"/>
              </a:defRPr>
            </a:pPr>
            <a:r>
              <a:t>Comprehensive Dashboard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Full control panel for multi-event publishing and moderation.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Real-time registration statistics and attendee list exports.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Post-event feedback and ratings aggregation.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RESULTS &amp;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Arial"/>
              </a:defRPr>
            </a:pPr>
            <a:r>
              <a:t>Measurable Outcomes and Positive Impact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91640"/>
            <a:ext cx="292608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10B981"/>
                </a:solidFill>
                <a:latin typeface="Arial"/>
              </a:defRPr>
            </a:pPr>
            <a:r>
              <a:t>OUTCOME 01</a:t>
            </a:r>
          </a:p>
          <a:p>
            <a:pPr>
              <a:spcAft>
                <a:spcPts val="800"/>
              </a:spcAft>
              <a:defRPr sz="1400" b="1">
                <a:solidFill>
                  <a:srgbClr val="1E40AF"/>
                </a:solidFill>
                <a:latin typeface="Arial"/>
              </a:defRPr>
            </a:pPr>
            <a:r>
              <a:t>Enhanced User Satisfaction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Streamlined navigation and intuitive UI/UX design.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Positive attendee feedback regarding registration speed.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Transparent communication and real-time updates.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691640"/>
            <a:ext cx="292608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10B981"/>
                </a:solidFill>
                <a:latin typeface="Arial"/>
              </a:defRPr>
            </a:pPr>
            <a:r>
              <a:t>OUTCOME 02</a:t>
            </a:r>
          </a:p>
          <a:p>
            <a:pPr>
              <a:spcAft>
                <a:spcPts val="800"/>
              </a:spcAft>
              <a:defRPr sz="1400" b="1">
                <a:solidFill>
                  <a:srgbClr val="1E40AF"/>
                </a:solidFill>
                <a:latin typeface="Arial"/>
              </a:defRPr>
            </a:pPr>
            <a:r>
              <a:t>Reduced Coordination Time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Automation minimizes hours spent organizing and verifying.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Elimination of spreadsheet errors and lost registrations.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Smooth, fast cross-college administrative workflows.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691640"/>
            <a:ext cx="292608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10B981"/>
                </a:solidFill>
                <a:latin typeface="Arial"/>
              </a:defRPr>
            </a:pPr>
            <a:r>
              <a:t>OUTCOME 03</a:t>
            </a:r>
          </a:p>
          <a:p>
            <a:pPr>
              <a:spcAft>
                <a:spcPts val="800"/>
              </a:spcAft>
              <a:defRPr sz="1400" b="1">
                <a:solidFill>
                  <a:srgbClr val="1E40AF"/>
                </a:solidFill>
                <a:latin typeface="Arial"/>
              </a:defRPr>
            </a:pPr>
            <a:r>
              <a:t>Increased Participation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Notable rise in student engagement across college campuses.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Higher attendance for technical, cultural, and sports events.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Stronger inter-collegiate student networks and communities.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STRATEGIC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Arial"/>
              </a:defRPr>
            </a:pPr>
            <a:r>
              <a:t>Future Enhancements for CampusEventHub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91640"/>
            <a:ext cx="292608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1E40AF"/>
                </a:solidFill>
                <a:latin typeface="Arial"/>
              </a:defRPr>
            </a:pPr>
            <a:r>
              <a:t>ROADMAP 01</a:t>
            </a:r>
          </a:p>
          <a:p>
            <a:pPr>
              <a:spcAft>
                <a:spcPts val="800"/>
              </a:spcAft>
              <a:defRPr sz="1400" b="1">
                <a:solidFill>
                  <a:srgbClr val="1E40AF"/>
                </a:solidFill>
                <a:latin typeface="Arial"/>
              </a:defRPr>
            </a:pPr>
            <a:r>
              <a:t>Payment Integration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Streamline payment processes for premium event tickets.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Multiple payment options: UPI, Cards, Net Banking, Wallets.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Fraud detection mechanisms and encrypted transactions.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691640"/>
            <a:ext cx="292608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1E40AF"/>
                </a:solidFill>
                <a:latin typeface="Arial"/>
              </a:defRPr>
            </a:pPr>
            <a:r>
              <a:t>ROADMAP 02</a:t>
            </a:r>
          </a:p>
          <a:p>
            <a:pPr>
              <a:spcAft>
                <a:spcPts val="800"/>
              </a:spcAft>
              <a:defRPr sz="1400" b="1">
                <a:solidFill>
                  <a:srgbClr val="1E40AF"/>
                </a:solidFill>
                <a:latin typeface="Arial"/>
              </a:defRPr>
            </a:pPr>
            <a:r>
              <a:t>Advanced Analytics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Real-time analytics to track event success and engagement.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Predictive analytics to forecast turnout for future events.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Comparative analysis of multiple events to spot trends.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691640"/>
            <a:ext cx="292608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1E40AF"/>
                </a:solidFill>
                <a:latin typeface="Arial"/>
              </a:defRPr>
            </a:pPr>
            <a:r>
              <a:t>ROADMAP 03</a:t>
            </a:r>
          </a:p>
          <a:p>
            <a:pPr>
              <a:spcAft>
                <a:spcPts val="800"/>
              </a:spcAft>
              <a:defRPr sz="1400" b="1">
                <a:solidFill>
                  <a:srgbClr val="1E40AF"/>
                </a:solidFill>
                <a:latin typeface="Arial"/>
              </a:defRPr>
            </a:pPr>
            <a:r>
              <a:t>AI Recommendations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Personalized event suggestions based on user interests.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Smart automated reminders for upcoming events.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Continuous machine learning to refine future discovery feeds.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PROJECT CONTRIBUTORS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Arial"/>
              </a:defRPr>
            </a:pPr>
            <a:r>
              <a:t>Team Members &amp; Presentation Reference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91640"/>
            <a:ext cx="29260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0284C7"/>
                </a:solidFill>
                <a:latin typeface="Arial"/>
              </a:defRPr>
            </a:pPr>
            <a:r>
              <a:t>FULL-STACK ARCHITECTURE &amp; LEAD</a:t>
            </a:r>
          </a:p>
          <a:p>
            <a:pPr>
              <a:spcAft>
                <a:spcPts val="800"/>
              </a:spcAft>
              <a:defRPr sz="1400" b="1">
                <a:solidFill>
                  <a:srgbClr val="1E40AF"/>
                </a:solidFill>
                <a:latin typeface="Arial"/>
              </a:defRPr>
            </a:pPr>
            <a:r>
              <a:t>Satyam Mohanty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MERN Stack Setup &amp; Backend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3832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691640"/>
            <a:ext cx="29260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0284C7"/>
                </a:solidFill>
                <a:latin typeface="Arial"/>
              </a:defRPr>
            </a:pPr>
            <a:r>
              <a:t>FRONTEND ENGINEERING</a:t>
            </a:r>
          </a:p>
          <a:p>
            <a:pPr>
              <a:spcAft>
                <a:spcPts val="800"/>
              </a:spcAft>
              <a:defRPr sz="1400" b="1">
                <a:solidFill>
                  <a:srgbClr val="1E40AF"/>
                </a:solidFill>
                <a:latin typeface="Arial"/>
              </a:defRPr>
            </a:pPr>
            <a:r>
              <a:t>Samruddhi Garge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React UI/UX &amp; Responsive Layouts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3832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691640"/>
            <a:ext cx="29260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0284C7"/>
                </a:solidFill>
                <a:latin typeface="Arial"/>
              </a:defRPr>
            </a:pPr>
            <a:r>
              <a:t>DATABASE ARCHITECTURE</a:t>
            </a:r>
          </a:p>
          <a:p>
            <a:pPr>
              <a:spcAft>
                <a:spcPts val="800"/>
              </a:spcAft>
              <a:defRPr sz="1400" b="1">
                <a:solidFill>
                  <a:srgbClr val="1E40AF"/>
                </a:solidFill>
                <a:latin typeface="Arial"/>
              </a:defRPr>
            </a:pPr>
            <a:r>
              <a:t>Jayanth Reddy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MongoDB Schema &amp; Aggregations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49040"/>
            <a:ext cx="33832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977640"/>
            <a:ext cx="29260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0284C7"/>
                </a:solidFill>
                <a:latin typeface="Arial"/>
              </a:defRPr>
            </a:pPr>
            <a:r>
              <a:t>AUTHENTICATION &amp; SECURITY</a:t>
            </a:r>
          </a:p>
          <a:p>
            <a:pPr>
              <a:spcAft>
                <a:spcPts val="800"/>
              </a:spcAft>
              <a:defRPr sz="1400" b="1">
                <a:solidFill>
                  <a:srgbClr val="1E40AF"/>
                </a:solidFill>
                <a:latin typeface="Arial"/>
              </a:defRPr>
            </a:pPr>
            <a:r>
              <a:t>Sahil Tripathy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JWT Implementation &amp; RBAC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3749040"/>
            <a:ext cx="33832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3977640"/>
            <a:ext cx="29260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0284C7"/>
                </a:solidFill>
                <a:latin typeface="Arial"/>
              </a:defRPr>
            </a:pPr>
            <a:r>
              <a:t>FEEDBACK MODULE LEAD</a:t>
            </a:r>
          </a:p>
          <a:p>
            <a:pPr>
              <a:spcAft>
                <a:spcPts val="800"/>
              </a:spcAft>
              <a:defRPr sz="1400" b="1">
                <a:solidFill>
                  <a:srgbClr val="1E40AF"/>
                </a:solidFill>
                <a:latin typeface="Arial"/>
              </a:defRPr>
            </a:pPr>
            <a:r>
              <a:t>Abinaya Sri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Interactive Rating &amp; Review System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3749040"/>
            <a:ext cx="33832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3977640"/>
            <a:ext cx="29260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0284C7"/>
                </a:solidFill>
                <a:latin typeface="Arial"/>
              </a:defRPr>
            </a:pPr>
            <a:r>
              <a:t>QUALITY ASSURANCE &amp; DOCS</a:t>
            </a:r>
          </a:p>
          <a:p>
            <a:pPr>
              <a:spcAft>
                <a:spcPts val="800"/>
              </a:spcAft>
              <a:defRPr sz="1400" b="1">
                <a:solidFill>
                  <a:srgbClr val="1E40AF"/>
                </a:solidFill>
                <a:latin typeface="Arial"/>
              </a:defRPr>
            </a:pPr>
            <a:r>
              <a:t>Srishti Sinha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API Testing &amp; Presentation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40AF"/>
                </a:solidFill>
                <a:latin typeface="Arial"/>
              </a:defRPr>
            </a:pPr>
            <a:r>
              <a:t>Presentation Video Walkthrough: https://drive.google.com/file/d/1GAGHVWyuiXgearCHCusDrzPZBf9mK978/view?usp=sharing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011680"/>
            <a:ext cx="9418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1400" b="1">
                <a:solidFill>
                  <a:srgbClr val="0284C7"/>
                </a:solidFill>
                <a:latin typeface="Arial"/>
              </a:defRPr>
            </a:pPr>
            <a:r>
              <a:t>QUESTIONS &amp; ANSWERS</a:t>
            </a:r>
          </a:p>
          <a:p>
            <a:pPr algn="ctr">
              <a:spcAft>
                <a:spcPts val="1400"/>
              </a:spcAft>
              <a:defRPr sz="4800" b="1">
                <a:solidFill>
                  <a:srgbClr val="FFFFFF"/>
                </a:solidFill>
                <a:latin typeface="Arial"/>
              </a:defRPr>
            </a:pPr>
            <a:r>
              <a:t>Thank You!</a:t>
            </a:r>
          </a:p>
          <a:p>
            <a:pPr algn="ctr">
              <a:defRPr sz="1600">
                <a:solidFill>
                  <a:srgbClr val="94A3B8"/>
                </a:solidFill>
                <a:latin typeface="Arial"/>
              </a:defRPr>
            </a:pPr>
            <a:r>
              <a:t>CampusEventHub — Redefining Inter-College Event Management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